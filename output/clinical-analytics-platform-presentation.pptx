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3386491ad94c56" /><Relationship Type="http://schemas.openxmlformats.org/officeDocument/2006/relationships/extended-properties" Target="/docProps/app.xml" Id="R2c3cebdaeb0c4b2d" /><Relationship Type="http://schemas.openxmlformats.org/officeDocument/2006/relationships/officeDocument" Target="/ppt/presentation.xml" Id="Rfbe5cb40029e4b5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45241f598dc4cb5"/>
  </p:sldMasterIdLst>
  <p:notesMasterIdLst>
    <p:notesMasterId xmlns:r="http://schemas.openxmlformats.org/officeDocument/2006/relationships" r:id="R106421f8d20f4856"/>
  </p:notesMasterIdLst>
  <p:sldIdLst>
    <p:sldId xmlns:r="http://schemas.openxmlformats.org/officeDocument/2006/relationships" id="256" r:id="Rbf41bae2d221414b"/>
    <p:sldId xmlns:r="http://schemas.openxmlformats.org/officeDocument/2006/relationships" id="257" r:id="R1c4631a7904b4d1a"/>
    <p:sldId xmlns:r="http://schemas.openxmlformats.org/officeDocument/2006/relationships" id="258" r:id="R7ae92fdf641449bd"/>
    <p:sldId xmlns:r="http://schemas.openxmlformats.org/officeDocument/2006/relationships" id="259" r:id="Rb79059ab0ae04472"/>
    <p:sldId xmlns:r="http://schemas.openxmlformats.org/officeDocument/2006/relationships" id="260" r:id="Rc5915d2da5264f5a"/>
    <p:sldId xmlns:r="http://schemas.openxmlformats.org/officeDocument/2006/relationships" id="261" r:id="R51b810d6f73345e4"/>
    <p:sldId xmlns:r="http://schemas.openxmlformats.org/officeDocument/2006/relationships" id="262" r:id="R1d55c363a8a94e7e"/>
    <p:sldId xmlns:r="http://schemas.openxmlformats.org/officeDocument/2006/relationships" id="263" r:id="Ra7e1f9834ea2487e"/>
    <p:sldId xmlns:r="http://schemas.openxmlformats.org/officeDocument/2006/relationships" id="264" r:id="R314000eb1a4b463f"/>
    <p:sldId xmlns:r="http://schemas.openxmlformats.org/officeDocument/2006/relationships" id="265" r:id="R243daf379c0c463e"/>
    <p:sldId xmlns:r="http://schemas.openxmlformats.org/officeDocument/2006/relationships" id="266" r:id="Rddab3e9056bf4e84"/>
    <p:sldId xmlns:r="http://schemas.openxmlformats.org/officeDocument/2006/relationships" id="267" r:id="R4780efa2ad0d478c"/>
    <p:sldId xmlns:r="http://schemas.openxmlformats.org/officeDocument/2006/relationships" id="268" r:id="Rfc3dd4274cd54c68"/>
    <p:sldId xmlns:r="http://schemas.openxmlformats.org/officeDocument/2006/relationships" id="269" r:id="R69792253d849441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485410dc9d4880" /><Relationship Type="http://schemas.openxmlformats.org/officeDocument/2006/relationships/slideMaster" Target="/ppt/slideMasters/slideMaster1.xml" Id="Re45241f598dc4cb5" /><Relationship Type="http://schemas.openxmlformats.org/officeDocument/2006/relationships/notesMaster" Target="/ppt/notesMasters/notesMaster1.xml" Id="R106421f8d20f4856" /><Relationship Type="http://schemas.openxmlformats.org/officeDocument/2006/relationships/presProps" Target="/ppt/presProps.xml" Id="R9077da10bf79425b" /><Relationship Type="http://schemas.openxmlformats.org/officeDocument/2006/relationships/tableStyles" Target="/ppt/tableStyles.xml" Id="R8e015966ea984224" /><Relationship Type="http://schemas.openxmlformats.org/officeDocument/2006/relationships/slide" Target="/ppt/slides/slide1.xml" Id="Rbf41bae2d221414b" /><Relationship Type="http://schemas.openxmlformats.org/officeDocument/2006/relationships/slide" Target="/ppt/slides/slide2.xml" Id="R1c4631a7904b4d1a" /><Relationship Type="http://schemas.openxmlformats.org/officeDocument/2006/relationships/slide" Target="/ppt/slides/slide3.xml" Id="R7ae92fdf641449bd" /><Relationship Type="http://schemas.openxmlformats.org/officeDocument/2006/relationships/slide" Target="/ppt/slides/slide4.xml" Id="Rb79059ab0ae04472" /><Relationship Type="http://schemas.openxmlformats.org/officeDocument/2006/relationships/slide" Target="/ppt/slides/slide5.xml" Id="Rc5915d2da5264f5a" /><Relationship Type="http://schemas.openxmlformats.org/officeDocument/2006/relationships/slide" Target="/ppt/slides/slide6.xml" Id="R51b810d6f73345e4" /><Relationship Type="http://schemas.openxmlformats.org/officeDocument/2006/relationships/slide" Target="/ppt/slides/slide7.xml" Id="R1d55c363a8a94e7e" /><Relationship Type="http://schemas.openxmlformats.org/officeDocument/2006/relationships/slide" Target="/ppt/slides/slide8.xml" Id="Ra7e1f9834ea2487e" /><Relationship Type="http://schemas.openxmlformats.org/officeDocument/2006/relationships/slide" Target="/ppt/slides/slide9.xml" Id="R314000eb1a4b463f" /><Relationship Type="http://schemas.openxmlformats.org/officeDocument/2006/relationships/slide" Target="/ppt/slides/slide10.xml" Id="R243daf379c0c463e" /><Relationship Type="http://schemas.openxmlformats.org/officeDocument/2006/relationships/slide" Target="/ppt/slides/slide11.xml" Id="Rddab3e9056bf4e84" /><Relationship Type="http://schemas.openxmlformats.org/officeDocument/2006/relationships/slide" Target="/ppt/slides/slide12.xml" Id="R4780efa2ad0d478c" /><Relationship Type="http://schemas.openxmlformats.org/officeDocument/2006/relationships/slide" Target="/ppt/slides/slide13.xml" Id="Rfc3dd4274cd54c68" /><Relationship Type="http://schemas.openxmlformats.org/officeDocument/2006/relationships/slide" Target="/ppt/slides/slide14.xml" Id="R69792253d849441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704c6cf84f425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58d50227b743a2" /><Relationship Type="http://schemas.openxmlformats.org/officeDocument/2006/relationships/notesMaster" Target="/ppt/notesMasters/notesMaster1.xml" Id="Rb4cccb861e2144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63418901a54054" /><Relationship Type="http://schemas.openxmlformats.org/officeDocument/2006/relationships/notesMaster" Target="/ppt/notesMasters/notesMaster1.xml" Id="R3bcfcd9bbab544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6c49e1d2e1f4e34" /><Relationship Type="http://schemas.openxmlformats.org/officeDocument/2006/relationships/notesMaster" Target="/ppt/notesMasters/notesMaster1.xml" Id="R67945a10359344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afa73c687ef4a6c" /><Relationship Type="http://schemas.openxmlformats.org/officeDocument/2006/relationships/notesMaster" Target="/ppt/notesMasters/notesMaster1.xml" Id="R8d54e0615b524e0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17f43946ffc4a35" /><Relationship Type="http://schemas.openxmlformats.org/officeDocument/2006/relationships/notesMaster" Target="/ppt/notesMasters/notesMaster1.xml" Id="Re3ddbf1b68d447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40ad124dda4816" /><Relationship Type="http://schemas.openxmlformats.org/officeDocument/2006/relationships/notesMaster" Target="/ppt/notesMasters/notesMaster1.xml" Id="R4a9aea4ff50644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0e437874164578" /><Relationship Type="http://schemas.openxmlformats.org/officeDocument/2006/relationships/notesMaster" Target="/ppt/notesMasters/notesMaster1.xml" Id="Rbba5f5f77dc3415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4d10ed99e14cef" /><Relationship Type="http://schemas.openxmlformats.org/officeDocument/2006/relationships/notesMaster" Target="/ppt/notesMasters/notesMaster1.xml" Id="R93f3d6b907e647e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c329e7dc6af4770" /><Relationship Type="http://schemas.openxmlformats.org/officeDocument/2006/relationships/notesMaster" Target="/ppt/notesMasters/notesMaster1.xml" Id="Rfad9d4becd53463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3ad4367f48b4bda" /><Relationship Type="http://schemas.openxmlformats.org/officeDocument/2006/relationships/notesMaster" Target="/ppt/notesMasters/notesMaster1.xml" Id="Rd8168bce96ee4a3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c0eea813c7d45d8" /><Relationship Type="http://schemas.openxmlformats.org/officeDocument/2006/relationships/notesMaster" Target="/ppt/notesMasters/notesMaster1.xml" Id="Rd9772cd5a57348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892783e26c4671" /><Relationship Type="http://schemas.openxmlformats.org/officeDocument/2006/relationships/notesMaster" Target="/ppt/notesMasters/notesMaster1.xml" Id="R8c444af2126a498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56469c78aed4989" /><Relationship Type="http://schemas.openxmlformats.org/officeDocument/2006/relationships/notesMaster" Target="/ppt/notesMasters/notesMaster1.xml" Id="R09b992994721431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352de2c155d414e" /><Relationship Type="http://schemas.openxmlformats.org/officeDocument/2006/relationships/notesMaster" Target="/ppt/notesMasters/notesMaster1.xml" Id="Rc74859634db741a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Project: Clinical Analytics Platform.</a:t>
            </a:r>
          </a:p>
          <a:p xmlns:a="http://schemas.openxmlformats.org/drawingml/2006/main">
            <a:r>
              <a:t>Source: README.md and current application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product scope includes the Clinical and Technical workspaces.</a:t>
            </a:r>
          </a:p>
          <a:p xmlns:a="http://schemas.openxmlformats.org/drawingml/2006/main">
            <a:r>
              <a:t>Source: README.md; docs/IMPLEMENTATION.md.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user-facing workspaces are Clinical and Technical.</a:t>
            </a:r>
          </a:p>
          <a:p xmlns:a="http://schemas.openxmlformats.org/drawingml/2006/main">
            <a:r>
              <a:t>The Governed Workspace was removed from current scope.</a:t>
            </a:r>
          </a:p>
          <a:p xmlns:a="http://schemas.openxmlformats.org/drawingml/2006/main">
            <a:r>
              <a:t>Sources: README.md; docs/GOVERNED_WORKSPACE_REMOVAL.md.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architecture image comes from the project output directory.</a:t>
            </a:r>
          </a:p>
          <a:p xmlns:a="http://schemas.openxmlformats.org/drawingml/2006/main">
            <a:r>
              <a:t>Top layer: user, React, FastAPI, identity and audit. Middle: ingestion, MySQL, optional Redis and LangGraph analysis. Bottom: insight, chart, PDF review and download.</a:t>
            </a:r>
          </a:p>
          <a:p xmlns:a="http://schemas.openxmlformats.org/drawingml/2006/main">
            <a:r>
              <a:t>The manual review-to-PDF arrow is conceptual. The UI does not currently submit review feedback for automatic PDF regeneration.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app/api/ingestion.py; app/ingestion/mysql_loader.py; docs/EDA_WORKFLOW_SIMPLIFICATION.md.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first request stops at pending plan approval.</a:t>
            </a:r>
          </a:p>
          <a:p xmlns:a="http://schemas.openxmlformats.org/drawingml/2006/main">
            <a:r>
              <a:t>The approved plan routes the workflow to SQL generation; rejection routes to plan regeneration.</a:t>
            </a:r>
          </a:p>
          <a:p xmlns:a="http://schemas.openxmlformats.org/drawingml/2006/main">
            <a:r>
              <a:t>Source: app/workflow/graph.py; frontend/src/pages/ClinicalDashboard.tsx.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validator uses sqlglot AST extraction and additional rules for columns, approved relationships and plan consistency.</a:t>
            </a:r>
          </a:p>
          <a:p xmlns:a="http://schemas.openxmlformats.org/drawingml/2006/main">
            <a:r>
              <a:t>Execution rechecks table scope and applies read-only, time and row bounds.</a:t>
            </a:r>
          </a:p>
          <a:p xmlns:a="http://schemas.openxmlformats.org/drawingml/2006/main">
            <a:r>
              <a:t>Sources: app/analytics/sql_validator.py; app/clinical/table_validator.py; app/analytics/query_executor.py.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Redis configuration uses a 900-second TTL.</a:t>
            </a:r>
          </a:p>
          <a:p xmlns:a="http://schemas.openxmlformats.org/drawingml/2006/main">
            <a:r>
              <a:t>Cache keys include user ID, dataset versions, schema, question, plan, selected tables and SQL.</a:t>
            </a:r>
          </a:p>
          <a:p xmlns:a="http://schemas.openxmlformats.org/drawingml/2006/main">
            <a:r>
              <a:t>Source: app/analytics/cache.py; app/workflow/graph.py; app/workflow/recovery.py.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Insight validation is deterministic Python logic, not a second model judge.</a:t>
            </a:r>
          </a:p>
          <a:p xmlns:a="http://schemas.openxmlformats.org/drawingml/2006/main">
            <a:r>
              <a:t>These checks do not constitute complete clinical or statistical review.</a:t>
            </a:r>
          </a:p>
          <a:p xmlns:a="http://schemas.openxmlformats.org/drawingml/2006/main">
            <a:r>
              <a:t>Sources: app/analytics/result_validator.py; app/analytics/insight_evidence.py; app/ai/insight_validator.py.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report endpoint can use an owner-bound saved analysis.</a:t>
            </a:r>
          </a:p>
          <a:p xmlns:a="http://schemas.openxmlformats.org/drawingml/2006/main">
            <a:r>
              <a:t>PDF chart images are built separately from interactive browser Plotly charts.</a:t>
            </a:r>
          </a:p>
          <a:p xmlns:a="http://schemas.openxmlformats.org/drawingml/2006/main">
            <a:r>
              <a:t>Sources: app/workflow/graph.py; frontend/src/components/Clinical/DynamicCharts.tsx; app/api/analytics.py; app/reporting/safe_pdf.py.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PDF is saved before the review acknowledgement.</a:t>
            </a:r>
          </a:p>
          <a:p xmlns:a="http://schemas.openxmlformats.org/drawingml/2006/main">
            <a:r>
              <a:t>The backend download endpoint serves any owner-scoped completed report. The review gate is currently enforced in the modal UI, not in that download endpoint.</a:t>
            </a:r>
          </a:p>
          <a:p xmlns:a="http://schemas.openxmlformats.org/drawingml/2006/main">
            <a:r>
              <a:t>Sources: app/api/analytics.py; app/reporting/history.py; app/api/reports.py; frontend/src/components/ReportModal.tsx.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analysis requires a token. Anonymous local analysis has a more limited path.</a:t>
            </a:r>
          </a:p>
          <a:p xmlns:a="http://schemas.openxmlformats.org/drawingml/2006/main">
            <a:r>
              <a:t>Source: app/core/identity.py; app/workflow/recovery.py; app/workflow/store.py; app/workflow/runtime.py;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reports repository coverage and documented prior results, not a fresh full-suite run for this deck.</a:t>
            </a:r>
          </a:p>
          <a:p xmlns:a="http://schemas.openxmlformats.org/drawingml/2006/main">
            <a:r>
              <a:t>The documented mismatch is a hard-coded expectation of 2,518 versus a configured database result of 2,517. Do not alter clinical source results to match the test.</a:t>
            </a:r>
          </a:p>
          <a:p xmlns:a="http://schemas.openxmlformats.org/drawingml/2006/main">
            <a:r>
              <a:t>Sources: docs/EDA_WORKFLOW_SIMPLIFICATION.md; docs/GOVERNED_WORKSPACE_REMOVAL.md; README.md.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a future enhancement, not a feature claimed as present in the current application.</a:t>
            </a:r>
          </a:p>
          <a:p xmlns:a="http://schemas.openxmlformats.org/drawingml/2006/main">
            <a:r>
              <a:t>Source: README.md, Future enhancements.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e82733b26b4d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6f0ca68bfa43b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d2216111ca419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71aa9604d54e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304b0d44814c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41f96b5a64e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C85D54E-F860-454F-B03E-4AD1B1C2A5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EEFA777-7C50-4D17-A38A-98F041FF72C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754778-5741-4109-9B8A-4237400338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A87A4D-0CDD-404A-ABA5-1EA2CE83CD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B3EF0B2-1CF1-414C-8382-A3FE05AA57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E100F6-47B6-4DF2-904D-B1E43497CA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FBA5D60-1D8A-4DBF-9872-2D2180A6F9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F9654A9-DE45-44F6-8A7B-DAA64F4CA5C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A393F82-9A14-419C-901F-A641BEE9DF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79E40D5-62F8-4242-BBE5-70F9AEAE61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2f50736cc341c1" /><Relationship Type="http://schemas.openxmlformats.org/officeDocument/2006/relationships/slideLayout" Target="/ppt/slideLayouts/slideLayout1.xml" Id="R529d17e43797477d" /><Relationship Type="http://schemas.openxmlformats.org/officeDocument/2006/relationships/slideLayout" Target="/ppt/slideLayouts/slideLayout2.xml" Id="Rd9e9a3aac3894ee5" /><Relationship Type="http://schemas.openxmlformats.org/officeDocument/2006/relationships/slideLayout" Target="/ppt/slideLayouts/slideLayout3.xml" Id="R73f516ec97184ace" /><Relationship Type="http://schemas.openxmlformats.org/officeDocument/2006/relationships/slideLayout" Target="/ppt/slideLayouts/slideLayout4.xml" Id="Ra18ab51094ce4214" /><Relationship Type="http://schemas.openxmlformats.org/officeDocument/2006/relationships/slideLayout" Target="/ppt/slideLayouts/slideLayout5.xml" Id="R2278201c045e4acd" /><Relationship Type="http://schemas.openxmlformats.org/officeDocument/2006/relationships/slideLayout" Target="/ppt/slideLayouts/slideLayout6.xml" Id="Raa8bebef51be40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9d17e43797477d"/>
    <p:sldLayoutId xmlns:r="http://schemas.openxmlformats.org/officeDocument/2006/relationships" id="2147483650" r:id="Rd9e9a3aac3894ee5"/>
    <p:sldLayoutId xmlns:r="http://schemas.openxmlformats.org/officeDocument/2006/relationships" id="2147483651" r:id="R73f516ec97184ace"/>
    <p:sldLayoutId xmlns:r="http://schemas.openxmlformats.org/officeDocument/2006/relationships" id="2147483652" r:id="Ra18ab51094ce4214"/>
    <p:sldLayoutId xmlns:r="http://schemas.openxmlformats.org/officeDocument/2006/relationships" id="2147483653" r:id="R2278201c045e4acd"/>
    <p:sldLayoutId xmlns:r="http://schemas.openxmlformats.org/officeDocument/2006/relationships" id="2147483654" r:id="Raa8bebef51be40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24a360daf34abe" /><Relationship Type="http://schemas.openxmlformats.org/officeDocument/2006/relationships/image" Target="/ppt/media/image.png" Id="R7075fb54eaa749e6" /><Relationship Type="http://schemas.openxmlformats.org/officeDocument/2006/relationships/notesSlide" Target="/ppt/notesSlides/notesSlide1.xml" Id="R33ceac1e8ca74f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e3c96bb98445c6" /><Relationship Type="http://schemas.openxmlformats.org/officeDocument/2006/relationships/notesSlide" Target="/ppt/notesSlides/notesSlide2.xml" Id="R9b28dd9e02e840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4a66b496694250" /><Relationship Type="http://schemas.openxmlformats.org/officeDocument/2006/relationships/notesSlide" Target="/ppt/notesSlides/notesSlide3.xml" Id="Rbdece4c014b948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5a460a6d4248ed" /><Relationship Type="http://schemas.openxmlformats.org/officeDocument/2006/relationships/image" Target="/ppt/media/image2.png" Id="Rc3f14a53b0524f23" /><Relationship Type="http://schemas.openxmlformats.org/officeDocument/2006/relationships/notesSlide" Target="/ppt/notesSlides/notesSlide4.xml" Id="R08fc05bae44844f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76d27264204257" /><Relationship Type="http://schemas.openxmlformats.org/officeDocument/2006/relationships/notesSlide" Target="/ppt/notesSlides/notesSlide5.xml" Id="Rb8d139228c6a460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94470c6072419a" /><Relationship Type="http://schemas.openxmlformats.org/officeDocument/2006/relationships/notesSlide" Target="/ppt/notesSlides/notesSlide6.xml" Id="R0f5fbd93fa174f7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094ed82ea54ede" /><Relationship Type="http://schemas.openxmlformats.org/officeDocument/2006/relationships/notesSlide" Target="/ppt/notesSlides/notesSlide7.xml" Id="Rb255faa3ebdc4c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f632904c0904adb" /><Relationship Type="http://schemas.openxmlformats.org/officeDocument/2006/relationships/notesSlide" Target="/ppt/notesSlides/notesSlide8.xml" Id="R6f8e356be9a1440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ec06b9be3841b2" /><Relationship Type="http://schemas.openxmlformats.org/officeDocument/2006/relationships/notesSlide" Target="/ppt/notesSlides/notesSlide9.xml" Id="Rb6dab3ecee1d4c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562b4e83fc34904" /><Relationship Type="http://schemas.openxmlformats.org/officeDocument/2006/relationships/notesSlide" Target="/ppt/notesSlides/notesSlide10.xml" Id="Ree9ff28187314d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f6396163954c67" /><Relationship Type="http://schemas.openxmlformats.org/officeDocument/2006/relationships/notesSlide" Target="/ppt/notesSlides/notesSlide11.xml" Id="Rd9d1ff3c05904c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c8629966974a20" /><Relationship Type="http://schemas.openxmlformats.org/officeDocument/2006/relationships/notesSlide" Target="/ppt/notesSlides/notesSlide12.xml" Id="R68b95e9ebc5f447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2eef9dbca44d11" /><Relationship Type="http://schemas.openxmlformats.org/officeDocument/2006/relationships/notesSlide" Target="/ppt/notesSlides/notesSlide13.xml" Id="R18f21025bcfa474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0eeb44b3c4d4c50" /><Relationship Type="http://schemas.openxmlformats.org/officeDocument/2006/relationships/notesSlide" Target="/ppt/notesSlides/notesSlide14.xml" Id="Reaf932d9ae0244c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9E0886-4FDA-4306-A743-DC7400D4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628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12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12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12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12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12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12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12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12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12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PROJECT PRESENTATION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E56CAF-8337-4103-8447-D629C3284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695325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5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45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45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45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45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45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45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45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45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45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45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Clinical Analytics</a:t>
            </a:r>
          </a:p>
          <a:p xmlns:a="http://schemas.openxmlformats.org/drawingml/2006/main">
            <a:pPr algn="l">
              <a:defRPr sz="45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457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Platform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4B918C-E25C-4F35-845D-17623700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657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Natural-language questions, validated clinical results, and reviewable PDF reports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ECBFE-7F78-483F-BC5F-2867BC477F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75fb54eaa749e6"/>
          <a:stretch xmlns:a="http://schemas.openxmlformats.org/drawingml/2006/main"/>
        </p:blipFill>
        <p:spPr>
          <a:xfrm xmlns:a="http://schemas.openxmlformats.org/drawingml/2006/main">
            <a:off x="8216302" y="1695450"/>
            <a:ext cx="2760271" cy="2905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208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37A14E-19E3-4908-9A0A-F6F29F1F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CE55BA-3C4F-43E1-BE76-EAE1F878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Project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24D30E-8285-4E52-AF8C-BA2C5F7F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9AA580-EBBD-42EF-989B-E043FE4E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106203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32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32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32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32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32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32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32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32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32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32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Clinical questions require more than a generated SQL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4BA55A-411E-416D-9EDB-B0F72AA9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The need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F565B6-7334-4A88-AA95-10747E96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67100"/>
            <a:ext cx="4953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A clinical user needs to identify the right datasets, inspect the calculation, and understand the evidence behind the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C9B61-9BB9-45CE-8898-92123F608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098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The application response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AE831B-49EB-4C44-B4D5-9B6F10AB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67100"/>
            <a:ext cx="4953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The platform combines dataset preparation, human plan review, read-only analysis, result checks, charts, and a saved report.</a:t>
            </a:r>
          </a:p>
        </p:txBody>
      </p:sp>
    </p:spTree>
    <p:extLst>
      <p:ext uri="{BB962C8B-B14F-4D97-AF65-F5344CB8AC3E}">
        <p14:creationId xmlns:p14="http://schemas.microsoft.com/office/powerpoint/2010/main" val="2035161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3244D9-D719-4C8F-8859-DF793AFB6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4DF3C-C7D4-4D50-84B2-F2D3DA8D0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Current application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1FED4-DE21-4A38-82F2-A1E91957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8F73CC-4402-4730-8643-F9320348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Clinical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56FF69-AC21-4DED-9888-40872A37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495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A user selects approved datasets, asks a question, reviews an analysis plan, then sees validated results and interactive charts.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A2A59-9342-449A-8077-1B176FD16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Technical Workspace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13B426-5CC7-4BC9-9B2D-E125B570D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14600"/>
            <a:ext cx="4953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Operators can inspect dataset and schema information, selected tables, query details, and related technical context.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D47B1-C81F-408B-A25A-259BE7285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E690F"/>
                </a:solidFill>
                <a:latin typeface="Arial"/>
                <a:ea typeface="Arial"/>
                <a:cs typeface="Arial"/>
              </a:rPr>
              <a:t>The separate Governed Workspace is outside the current application scope.</a:t>
            </a:r>
          </a:p>
        </p:txBody>
      </p:sp>
    </p:spTree>
    <p:extLst>
      <p:ext uri="{BB962C8B-B14F-4D97-AF65-F5344CB8AC3E}">
        <p14:creationId xmlns:p14="http://schemas.microsoft.com/office/powerpoint/2010/main" val="8221345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3FA6DF-1F5A-4630-8BF7-77AE913EF3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14a53b0524f23"/>
          <a:stretch xmlns:a="http://schemas.openxmlformats.org/drawingml/2006/main"/>
        </p:blipFill>
        <p:spPr>
          <a:xfrm xmlns:a="http://schemas.openxmlformats.org/drawingml/2006/main">
            <a:off x="257655" y="47625"/>
            <a:ext cx="11676691" cy="6762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23648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8993EE-7B83-4DCD-84DF-F382EAA27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DATA FOUNDATION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3D120-D899-47F5-A441-B8AED643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Dataset onboarding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3C9D2B-0DC7-4BEE-B43C-3484C535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7987C9-56DA-44FF-A128-1F2621C59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026D44-AD01-4B84-82FF-9183D19FB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Upload and parse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FF676B-2EC9-44C8-9D4F-2D0D75AB5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FastAPI accepts CSV or XLSX files, validates them, and reads the records.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C762B-E798-4237-BCAB-09B00828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002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938CF9-24AB-4D94-9798-B7D9F2FC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241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Profile quality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79860-1512-4BD3-A25A-DA1C417D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76625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Ingestion-time EDA checks columns, missing data, duplicates, and possible relationships.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72B8F4-4BCA-4FFD-8C6C-714B33FBC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02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2F309A-FB16-4C51-AD1F-B9916201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241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Load into MySQL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EB941-8604-4671-9289-B4C93DDC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The loader writes records and dataset metadata, including a version used by later analyses.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36564-E03F-47A0-A6AD-076AED2E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4357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Dataset profiling happens during ingestion, not after every question.</a:t>
            </a:r>
          </a:p>
        </p:txBody>
      </p:sp>
    </p:spTree>
    <p:extLst>
      <p:ext uri="{BB962C8B-B14F-4D97-AF65-F5344CB8AC3E}">
        <p14:creationId xmlns:p14="http://schemas.microsoft.com/office/powerpoint/2010/main" val="12746101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741FBB-2E4F-472D-803F-BC1499E2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CLINICAL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1839A0-7FD7-4899-B66E-7DDF17AF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Question and human plan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A8552-43A3-47EF-A710-C558F0A4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D089B-754F-4582-9A17-C6064A72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573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12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12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12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12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12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12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12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12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12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Example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951E0-48BC-4D51-8F27-D9BD3558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05727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What is the age distribution of subjects across treatment groups, and what is the mean age in each group?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F147E2-6EDC-4E83-9349-F49A2B76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7CA449-F37C-4A64-9F74-80278E1B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0527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Check table scope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B1C0CC-2913-45C9-9822-3841F0E75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Confirm that selected approved datasets contain the fields needed for the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A6232-C4DA-4A3D-AC30-FA0CE0D0D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813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9B4CC7-0562-4B79-816D-A082D14A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10527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Draft the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681445-C0D9-4E92-9FA8-5A6FB8B22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57750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Map the question to measures, grouping, source columns, and expected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1AB440-B493-423F-B6B7-7A45D595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81375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EE68FD-C1C7-4AEB-9078-4B769487D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05275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Human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F2E8F2-3C21-40CE-8C28-351A2710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857750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An analyst approves the plan or supplies feedback for a revised plan.</a:t>
            </a:r>
          </a:p>
        </p:txBody>
      </p:sp>
    </p:spTree>
    <p:extLst>
      <p:ext uri="{BB962C8B-B14F-4D97-AF65-F5344CB8AC3E}">
        <p14:creationId xmlns:p14="http://schemas.microsoft.com/office/powerpoint/2010/main" val="165228841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26F3DB-F603-4073-AA34-C9A87BA7D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CLINICAL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A41DD2-B35F-4256-9699-1BF619B5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SQL generation and validation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110AC-F041-405E-B73D-2B6FF12E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F8C9C1-6ECC-4646-9EA0-96F25327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0972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Only an approved plan can proceed to execution.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B0415-9B4F-43BC-8779-2767C232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4FAEFF-5CBD-4223-A572-57F3B705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38525"/>
            <a:ext cx="238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Parse table references in the SQL.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6B2B2-6B6E-4A36-8555-5CB2FA14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4320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Schema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217CE-F7CF-4673-92E9-967C5CBA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38525"/>
            <a:ext cx="238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Check approved tables and columns.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4D8F6A-1798-483B-A0C9-768F0E14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4320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0492F7-37AC-46BD-8CD7-5853EA92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38525"/>
            <a:ext cx="238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Restrict SQL to selected datasets.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D6818-E555-4B0D-96EF-93FEC0943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2428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D93756-5DC6-4C4B-A500-B478FBAB5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38525"/>
            <a:ext cx="238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Allow one read-only SELECT and approved joins.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88AFBD-EF69-4D3D-9B68-AC233F3D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816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E690F"/>
                </a:solidFill>
                <a:latin typeface="Arial"/>
                <a:ea typeface="Arial"/>
                <a:cs typeface="Arial"/>
              </a:rPr>
              <a:t>Rejected SQL stops before the database query.</a:t>
            </a:r>
          </a:p>
        </p:txBody>
      </p:sp>
    </p:spTree>
    <p:extLst>
      <p:ext uri="{BB962C8B-B14F-4D97-AF65-F5344CB8AC3E}">
        <p14:creationId xmlns:p14="http://schemas.microsoft.com/office/powerpoint/2010/main" val="15713443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15310D-2646-4BC6-AFCC-F949B9834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CLINICAL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B3228F-82BA-40F8-B608-A2D36D324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Query execution and optional Redis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F1F2EF-DC73-42B4-B573-BE73110E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C1B38B-A945-4305-9856-B2889E1C8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First eligible 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9F39C7-1A6E-4FEB-9D3E-9A63E860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Redis misses. The backend executes validated SQL in MySQL, validates the rows, then stores the verified rows in Redis for a limited time.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311AC5-8F02-4CBF-8F05-BB4CFC9E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5740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Matching repeat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BE35CF-8CF5-4BFC-8A93-7515267C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14625"/>
            <a:ext cx="4953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Redis returns the saved rows for the same user and analysis context. The backend revalidates them before continuing.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3B7A8-99F5-4AE6-B661-B2CF0B58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149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E690F"/>
                </a:solidFill>
                <a:latin typeface="Arial"/>
                <a:ea typeface="Arial"/>
                <a:cs typeface="Arial"/>
              </a:rPr>
              <a:t>MySQL remains authoritative. Missing versions, anonymous runs, or Redis failure use the MySQL path.</a:t>
            </a:r>
          </a:p>
        </p:txBody>
      </p:sp>
    </p:spTree>
    <p:extLst>
      <p:ext uri="{BB962C8B-B14F-4D97-AF65-F5344CB8AC3E}">
        <p14:creationId xmlns:p14="http://schemas.microsoft.com/office/powerpoint/2010/main" val="18941052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B234AD-76DF-4E44-9A66-BADF420C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CLINICAL ANALYSIS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695023-E2C1-4A3C-99B0-24DF61BA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Result and insight quality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AA05F-8E67-4ECA-8060-7B3CC4B6C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C00470-9568-4BE3-90DD-48670B5A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Validate result rows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901646-B0B7-4529-9C31-DEE0F1534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953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Check row structure, output columns, consistent types, finite numbers, grouping grain, and configured denominator rules. A correctable column mismatch can retry SQL.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1AB0E-CCF8-4942-8756-BEA9280DC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97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Validate the insight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54D71-4386-4FB9-965D-405F8757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4953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Build numerical evidence from verified rows. Reject unsupported figures and incorrect highest or lowest claims. Regenerate the wording up to two times.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0E608-6B45-4564-82AE-7DB40D0B7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Clinical source records are never changed to make a result pass.</a:t>
            </a:r>
          </a:p>
        </p:txBody>
      </p:sp>
    </p:spTree>
    <p:extLst>
      <p:ext uri="{BB962C8B-B14F-4D97-AF65-F5344CB8AC3E}">
        <p14:creationId xmlns:p14="http://schemas.microsoft.com/office/powerpoint/2010/main" val="2020380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6A43E9-E501-4BD0-935D-5AEC99E3C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C2478-071F-4D17-B74D-8C3470C7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Visualization and clinical PDF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128A9-1232-46E7-B9F2-C232EFC72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CFE84D-689B-446B-9379-108C283DE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97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Interactive charts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D28CA-7BA0-4649-9AB0-84C7020D3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The backend returns a validated chart specification and result rows. React renders the interactive view with Plotly.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FE03D-877E-470F-99E5-E9E13224C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097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Saved PDF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7AED6-EAB6-48DE-A1DF-117F6BCE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67000"/>
            <a:ext cx="4953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A separate report request uses verified analysis output, rules, provenance, results, insight, and applicable charts. The completed PDF is stored in MySQL.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FA5405-A443-4243-A17B-390F3381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1057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The PDF uses its own report rendering. It is not a screenshot of the Plotly dashboard.</a:t>
            </a:r>
          </a:p>
        </p:txBody>
      </p:sp>
    </p:spTree>
    <p:extLst>
      <p:ext uri="{BB962C8B-B14F-4D97-AF65-F5344CB8AC3E}">
        <p14:creationId xmlns:p14="http://schemas.microsoft.com/office/powerpoint/2010/main" val="10986161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83CB5-02B3-4AB1-B305-672C5537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DELIVERY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C8F0E9-761D-46AF-8B24-B488528F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Human report review and history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414A6-060E-499C-9530-A7E47473F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C29FC5-B90E-4679-BA23-71759ADC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EA4C46-8A05-4E0B-B8F2-C6B2FC6E3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622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Save the PDF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8EBC2C-E5AE-41E7-B084-3F1F58EE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The backend validates the PDF bytes and marks the owner-scoped report completed.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0CD236-0857-4DC5-984F-9984427C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383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B1F851-07E3-4D8B-B977-6A01724D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622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Review the report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F5D171-E0BA-44AD-B04A-D4E037444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514725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The user inspects the saved PDF. An acknowledgement creates an audit event.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3E7DA-B03C-45E2-9C64-3B28B874E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38350"/>
            <a:ext cx="66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3225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118E54-AC26-4225-9076-04FF3BC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62250"/>
            <a:ext cx="3238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Download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B31540-F950-44EA-86D4-0912252F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514725"/>
            <a:ext cx="3143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The UI enables download after acknowledgement and retrieves the original saved PDF.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DE6793-319F-45A0-82F6-A1C870484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3405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defPPr>
            <a:lvl1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1pPr>
            <a:lvl2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2pPr>
            <a:lvl3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3pPr>
            <a:lvl4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4pPr>
            <a:lvl5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5pPr>
            <a:lvl6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6pPr>
            <a:lvl7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7pPr>
            <a:lvl8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8pPr>
            <a:lvl9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AE690F"/>
                </a:solidFill>
                <a:latin typeface="Arial"/>
                <a:ea typeface="Arial"/>
                <a:cs typeface="Arial"/>
              </a:rPr>
              <a:t>Review feedback does not currently trigger automatic PDF regeneration.</a:t>
            </a:r>
          </a:p>
        </p:txBody>
      </p:sp>
    </p:spTree>
    <p:extLst>
      <p:ext uri="{BB962C8B-B14F-4D97-AF65-F5344CB8AC3E}">
        <p14:creationId xmlns:p14="http://schemas.microsoft.com/office/powerpoint/2010/main" val="14218893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25ECD8-7718-4460-AC14-1AD62D646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12C96F-CA19-4C8E-8B7A-5966B11B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Security, audit, and recovery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1FF83-B2A8-4E43-857A-5070E7DB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FFF5B-E5A6-414A-B55D-B88316277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Access and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6616D8-3A37-4024-82C4-4AF4AC09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33675"/>
            <a:ext cx="4953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Bearer tokens identify users. The main workspace checks authorization for saved analyses and reports. Audit events record key workflow actions.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7A5B6-A30F-4960-8B73-DA1461E2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76450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Recovery and failure handling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2208F-C53B-4276-AA68-171630EE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33675"/>
            <a:ext cx="49530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Authenticated runs save stage snapshots in MySQL. Bounded retries cover selected failures. Redis failures fall back to MySQL.</a:t>
            </a:r>
          </a:p>
        </p:txBody>
      </p:sp>
    </p:spTree>
    <p:extLst>
      <p:ext uri="{BB962C8B-B14F-4D97-AF65-F5344CB8AC3E}">
        <p14:creationId xmlns:p14="http://schemas.microsoft.com/office/powerpoint/2010/main" val="22762859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30E8F-8C95-4AA3-AA5C-078F01ADD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PROJECT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595244-4EAD-4C6F-942A-A61AEBDC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Verification and present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41F17E-1B08-4EB0-BB09-3E50BBEC2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4A27DA-1869-431A-8C0C-70F93AD5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859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Verification in the repository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ADB7E-7188-454F-B2C3-980F9BC2A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49530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Tests cover dataset boundaries, SQL restrictions, result quality, Redis cache behavior, workflow recovery, and report handling.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AC4C3-A978-498B-A2A7-FB9F8C2D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085975"/>
            <a:ext cx="5048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Limits to state clearly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CF4757-5C2F-4375-A87B-4C4B617D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43200"/>
            <a:ext cx="495300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No active RAG retrieval stage is in this checkout. Redis is optional and scoped to a user. Review feedback does not automatically rebuild the PDF.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BCC7A2-A185-4BCB-BB16-8CAA58553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5785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42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AE690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AE690F"/>
                </a:solidFill>
                <a:latin typeface="Arial"/>
                <a:ea typeface="Arial"/>
                <a:cs typeface="Arial"/>
              </a:rPr>
              <a:t>Prior test records include one expected serious-adverse-event count mismatch against the configured database.</a:t>
            </a:r>
          </a:p>
        </p:txBody>
      </p:sp>
    </p:spTree>
    <p:extLst>
      <p:ext uri="{BB962C8B-B14F-4D97-AF65-F5344CB8AC3E}">
        <p14:creationId xmlns:p14="http://schemas.microsoft.com/office/powerpoint/2010/main" val="212211002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F2E75-6626-41D4-8A41-ED6E8FA8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1028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664908-563E-4174-874F-08759212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7627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63148"/>
                </a:solidFill>
                <a:latin typeface="Arial"/>
                <a:ea typeface="Arial"/>
                <a:cs typeface="Arial"/>
              </a:rPr>
              <a:t>Future enhancement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588C3-0F9C-4B53-A76C-02DCB250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76975"/>
            <a:ext cx="38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defPPr>
            <a:lvl1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1pPr>
            <a:lvl2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2pPr>
            <a:lvl3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3pPr>
            <a:lvl4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4pPr>
            <a:lvl5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5pPr>
            <a:lvl6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6pPr>
            <a:lvl7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7pPr>
            <a:lvl8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8pPr>
            <a:lvl9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E728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E728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BFFD31-02CA-40CF-8DBF-93D272827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047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6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defPPr>
            <a:lvl1pPr algn="l">
              <a:defRPr sz="26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1pPr>
            <a:lvl2pPr algn="l">
              <a:defRPr sz="26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2pPr>
            <a:lvl3pPr algn="l">
              <a:defRPr sz="26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3pPr>
            <a:lvl4pPr algn="l">
              <a:defRPr sz="26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4pPr>
            <a:lvl5pPr algn="l">
              <a:defRPr sz="26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5pPr>
            <a:lvl6pPr algn="l">
              <a:defRPr sz="26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6pPr>
            <a:lvl7pPr algn="l">
              <a:defRPr sz="26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7pPr>
            <a:lvl8pPr algn="l">
              <a:defRPr sz="26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8pPr>
            <a:lvl9pPr algn="l">
              <a:defRPr sz="26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6257C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6257CF"/>
                </a:solidFill>
                <a:latin typeface="Arial"/>
                <a:ea typeface="Arial"/>
                <a:cs typeface="Arial"/>
              </a:rPr>
              <a:t>Governed Clinical Analytics Workspace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51577-776B-420C-861F-DDD807453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81325"/>
            <a:ext cx="102870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217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defPPr>
            <a:lvl1pPr algn="l">
              <a:defRPr sz="217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1pPr>
            <a:lvl2pPr algn="l">
              <a:defRPr sz="217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2pPr>
            <a:lvl3pPr algn="l">
              <a:defRPr sz="217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3pPr>
            <a:lvl4pPr algn="l">
              <a:defRPr sz="217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4pPr>
            <a:lvl5pPr algn="l">
              <a:defRPr sz="217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5pPr>
            <a:lvl6pPr algn="l">
              <a:defRPr sz="217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6pPr>
            <a:lvl7pPr algn="l">
              <a:defRPr sz="217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7pPr>
            <a:lvl8pPr algn="l">
              <a:defRPr sz="217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8pPr>
            <a:lvl9pPr algn="l">
              <a:defRPr sz="217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16314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148"/>
                </a:solidFill>
                <a:latin typeface="Arial"/>
                <a:ea typeface="Arial"/>
                <a:cs typeface="Arial"/>
              </a:rPr>
              <a:t>Future versions can introduce study-level access control, role-based permissions, approval workflows, and persistent workflow recovery to support secure, auditable, multi-study clinical analytics.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592C2-19C9-40D3-8465-1BFC9DB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62575"/>
            <a:ext cx="1028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087D6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87D67"/>
                </a:solidFill>
                <a:latin typeface="Arial"/>
                <a:ea typeface="Arial"/>
                <a:cs typeface="Arial"/>
              </a:rPr>
              <a:t>Current priority: complete and validate the primary Clinical Workspace.</a:t>
            </a:r>
          </a:p>
        </p:txBody>
      </p:sp>
    </p:spTree>
    <p:extLst>
      <p:ext uri="{BB962C8B-B14F-4D97-AF65-F5344CB8AC3E}">
        <p14:creationId xmlns:p14="http://schemas.microsoft.com/office/powerpoint/2010/main" val="1040333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2026-10-19T08:00:33.0800000Z</dcterms:created>
  <dcterms:modified xsi:type="dcterms:W3CDTF">2026-10-19T08:00:33.0800000Z</dcterms:modified>
</coreProperties>
</file>